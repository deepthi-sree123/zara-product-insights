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eorgia Pro Light" charset="1" panose="02040302050405020303"/>
      <p:regular r:id="rId13"/>
    </p:embeddedFont>
    <p:embeddedFont>
      <p:font typeface="Times New Roman" charset="1" panose="02020603050405020304"/>
      <p:regular r:id="rId14"/>
    </p:embeddedFont>
    <p:embeddedFont>
      <p:font typeface="Times New Roman Bold" charset="1" panose="020208030705050203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-5400000">
            <a:off x="10762127" y="1084923"/>
            <a:ext cx="416934" cy="471839"/>
          </a:xfrm>
          <a:custGeom>
            <a:avLst/>
            <a:gdLst/>
            <a:ahLst/>
            <a:cxnLst/>
            <a:rect r="r" b="b" t="t" l="l"/>
            <a:pathLst>
              <a:path h="471839" w="416934">
                <a:moveTo>
                  <a:pt x="416934" y="0"/>
                </a:moveTo>
                <a:lnTo>
                  <a:pt x="0" y="0"/>
                </a:lnTo>
                <a:lnTo>
                  <a:pt x="0" y="471839"/>
                </a:lnTo>
                <a:lnTo>
                  <a:pt x="416934" y="471839"/>
                </a:lnTo>
                <a:lnTo>
                  <a:pt x="4169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744200" y="2093428"/>
            <a:ext cx="6515100" cy="91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24"/>
              </a:lnSpc>
            </a:pPr>
            <a:r>
              <a:rPr lang="en-US" sz="7200" spc="-144">
                <a:solidFill>
                  <a:srgbClr val="4A90E2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Zara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34675" y="2881491"/>
            <a:ext cx="6886575" cy="3699578"/>
            <a:chOff x="0" y="0"/>
            <a:chExt cx="9182100" cy="493277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00025"/>
              <a:ext cx="9182100" cy="368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sz="10499">
                  <a:solidFill>
                    <a:srgbClr val="2D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Product Insights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108540"/>
              <a:ext cx="9172670" cy="824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</a:pPr>
              <a:r>
                <a:rPr lang="en-US" sz="3599">
                  <a:solidFill>
                    <a:srgbClr val="4A90E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Using PowerBI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44200" y="8740903"/>
            <a:ext cx="5743575" cy="888872"/>
            <a:chOff x="0" y="0"/>
            <a:chExt cx="7658100" cy="118516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81819"/>
              <a:ext cx="765810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Deepthisree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7658100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4A90E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PRESENTED BY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289877" cy="8390591"/>
            <a:chOff x="0" y="0"/>
            <a:chExt cx="12386502" cy="1118745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2386502" cy="3400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20"/>
                </a:lnSpc>
              </a:pPr>
              <a:r>
                <a:rPr lang="en-US" sz="8927">
                  <a:solidFill>
                    <a:srgbClr val="2D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Presentation Objective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891705"/>
              <a:ext cx="12386502" cy="7295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017"/>
                </a:lnSpc>
              </a:pPr>
              <a:r>
                <a:rPr lang="en-US" sz="2678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objective of this project is to design an interactive Power BI dashboard that provides clear insights into Zara’s product catalog.</a:t>
              </a:r>
            </a:p>
            <a:p>
              <a:pPr algn="just" marL="0" indent="0" lvl="0">
                <a:lnSpc>
                  <a:spcPts val="4017"/>
                </a:lnSpc>
              </a:pPr>
              <a:r>
                <a:rPr lang="en-US" sz="2678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This dashboard helps business stakeholders understand:</a:t>
              </a:r>
            </a:p>
            <a:p>
              <a:pPr algn="just" marL="578224" indent="-289112" lvl="1">
                <a:lnSpc>
                  <a:spcPts val="4017"/>
                </a:lnSpc>
                <a:buFont typeface="Arial"/>
                <a:buChar char="•"/>
              </a:pPr>
              <a:r>
                <a:rPr lang="en-US" sz="2678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 distribution across categories</a:t>
              </a:r>
            </a:p>
            <a:p>
              <a:pPr algn="just" marL="578224" indent="-289112" lvl="1">
                <a:lnSpc>
                  <a:spcPts val="4017"/>
                </a:lnSpc>
                <a:buFont typeface="Arial"/>
                <a:buChar char="•"/>
              </a:pPr>
              <a:r>
                <a:rPr lang="en-US" sz="2678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Pricing structure and pricing range</a:t>
              </a:r>
            </a:p>
            <a:p>
              <a:pPr algn="just" marL="578224" indent="-289112" lvl="1">
                <a:lnSpc>
                  <a:spcPts val="4017"/>
                </a:lnSpc>
                <a:buFont typeface="Arial"/>
                <a:buChar char="•"/>
              </a:pPr>
              <a:r>
                <a:rPr lang="en-US" sz="2678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Promotion patterns</a:t>
              </a:r>
            </a:p>
            <a:p>
              <a:pPr algn="just" marL="578224" indent="-289112" lvl="1">
                <a:lnSpc>
                  <a:spcPts val="4017"/>
                </a:lnSpc>
                <a:buFont typeface="Arial"/>
                <a:buChar char="•"/>
              </a:pPr>
              <a:r>
                <a:rPr lang="en-US" sz="2678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Seasonal product analytics</a:t>
              </a:r>
            </a:p>
            <a:p>
              <a:pPr algn="just" marL="578224" indent="-289112" lvl="1">
                <a:lnSpc>
                  <a:spcPts val="4017"/>
                </a:lnSpc>
                <a:buFont typeface="Arial"/>
                <a:buChar char="•"/>
              </a:pPr>
              <a:r>
                <a:rPr lang="en-US" sz="2678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 positioning insights (Aisle vs End-cap)</a:t>
              </a:r>
            </a:p>
            <a:p>
              <a:pPr algn="just" marL="0" indent="0" lvl="0">
                <a:lnSpc>
                  <a:spcPts val="4017"/>
                </a:lnSpc>
              </a:pPr>
              <a:r>
                <a:rPr lang="en-US" sz="2678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goal is to support data-driven decision-making in retail operations.</a:t>
              </a:r>
            </a:p>
            <a:p>
              <a:pPr algn="just" marL="0" indent="0" lvl="0">
                <a:lnSpc>
                  <a:spcPts val="4017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8097466"/>
            <a:chOff x="0" y="0"/>
            <a:chExt cx="11099800" cy="107966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2D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Dataset Description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24178"/>
              <a:ext cx="11099800" cy="7272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dataset sourced from Kaggle's Fashion / Retail collection includes </a:t>
              </a:r>
              <a:r>
                <a:rPr lang="en-US" b="true" sz="2199">
                  <a:solidFill>
                    <a:srgbClr val="2D3E5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252 product listings</a:t>
              </a: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detailing pricing, promotions, and seasonal trends to drive data-driven insights for Zara's product catalog.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Columns:</a:t>
              </a:r>
            </a:p>
            <a:p>
              <a:pPr algn="l" marL="949959" indent="-316653" lvl="2">
                <a:lnSpc>
                  <a:spcPts val="3079"/>
                </a:lnSpc>
                <a:buFont typeface="Arial"/>
                <a:buChar char="⚬"/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 ID</a:t>
              </a:r>
            </a:p>
            <a:p>
              <a:pPr algn="l" marL="949959" indent="-316653" lvl="2">
                <a:lnSpc>
                  <a:spcPts val="3079"/>
                </a:lnSpc>
                <a:buFont typeface="Arial"/>
                <a:buChar char="⚬"/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 Category</a:t>
              </a:r>
            </a:p>
            <a:p>
              <a:pPr algn="l" marL="949959" indent="-316653" lvl="2">
                <a:lnSpc>
                  <a:spcPts val="3079"/>
                </a:lnSpc>
                <a:buFont typeface="Arial"/>
                <a:buChar char="⚬"/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Price</a:t>
              </a:r>
            </a:p>
            <a:p>
              <a:pPr algn="l" marL="949959" indent="-316653" lvl="2">
                <a:lnSpc>
                  <a:spcPts val="3079"/>
                </a:lnSpc>
                <a:buFont typeface="Arial"/>
                <a:buChar char="⚬"/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Promotion (Yes/No)</a:t>
              </a:r>
            </a:p>
            <a:p>
              <a:pPr algn="l" marL="949959" indent="-316653" lvl="2">
                <a:lnSpc>
                  <a:spcPts val="3079"/>
                </a:lnSpc>
                <a:buFont typeface="Arial"/>
                <a:buChar char="⚬"/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Seasonal (Yes/No)</a:t>
              </a:r>
            </a:p>
            <a:p>
              <a:pPr algn="l" marL="949959" indent="-316653" lvl="2">
                <a:lnSpc>
                  <a:spcPts val="3079"/>
                </a:lnSpc>
                <a:buFont typeface="Arial"/>
                <a:buChar char="⚬"/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 Position (Aisle / End-cap)</a:t>
              </a:r>
            </a:p>
            <a:p>
              <a:pPr algn="l" marL="949959" indent="-316653" lvl="2">
                <a:lnSpc>
                  <a:spcPts val="3079"/>
                </a:lnSpc>
                <a:buFont typeface="Arial"/>
                <a:buChar char="⚬"/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Section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Type: Product listing data (not sales data)</a:t>
              </a:r>
            </a:p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dataset helps analyze Zara’s assortment, pricing, and product strategy.</a:t>
              </a:r>
            </a:p>
            <a:p>
              <a:pPr algn="l" marL="0" indent="0" lvl="0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385147" cy="7866695"/>
            <a:chOff x="0" y="0"/>
            <a:chExt cx="12513529" cy="1048892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2513529" cy="1761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21"/>
                </a:lnSpc>
              </a:pPr>
              <a:r>
                <a:rPr lang="en-US" sz="9019">
                  <a:solidFill>
                    <a:srgbClr val="2D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KPIs Used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57538"/>
              <a:ext cx="12513529" cy="8231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84156" indent="-292078" lvl="1">
                <a:lnSpc>
                  <a:spcPts val="4139"/>
                </a:lnSpc>
                <a:buFont typeface="Arial"/>
                <a:buChar char="•"/>
              </a:pPr>
              <a:r>
                <a:rPr lang="en-US" sz="2705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This section outlines the </a:t>
              </a:r>
              <a:r>
                <a:rPr lang="en-US" b="true" sz="2705">
                  <a:solidFill>
                    <a:srgbClr val="2D3E5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performance indicators</a:t>
              </a:r>
              <a:r>
                <a:rPr lang="en-US" sz="2705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tracked within the Zara Product Insights Dashboard, which provide vital metrics for understanding product performance and trends</a:t>
              </a:r>
            </a:p>
            <a:p>
              <a:pPr algn="just">
                <a:lnSpc>
                  <a:spcPts val="4139"/>
                </a:lnSpc>
              </a:pPr>
            </a:p>
            <a:p>
              <a:pPr algn="just">
                <a:lnSpc>
                  <a:spcPts val="4139"/>
                </a:lnSpc>
              </a:pPr>
              <a:r>
                <a:rPr lang="en-US" sz="2705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</a:p>
            <a:p>
              <a:pPr algn="just" marL="0" indent="0" lvl="0">
                <a:lnSpc>
                  <a:spcPts val="4139"/>
                </a:lnSpc>
              </a:pPr>
              <a:r>
                <a:rPr lang="en-US" sz="2705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dashboard includes the following key performance indicators:</a:t>
              </a:r>
            </a:p>
            <a:p>
              <a:pPr algn="just" marL="584156" indent="-292078" lvl="1">
                <a:lnSpc>
                  <a:spcPts val="4139"/>
                </a:lnSpc>
                <a:buFont typeface="Arial"/>
                <a:buChar char="•"/>
              </a:pPr>
              <a:r>
                <a:rPr lang="en-US" sz="2705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Total Products: Total number of items listed</a:t>
              </a:r>
            </a:p>
            <a:p>
              <a:pPr algn="just" marL="584156" indent="-292078" lvl="1">
                <a:lnSpc>
                  <a:spcPts val="4139"/>
                </a:lnSpc>
                <a:buFont typeface="Arial"/>
                <a:buChar char="•"/>
              </a:pPr>
              <a:r>
                <a:rPr lang="en-US" sz="2705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Products on Promotion: Count of discounted/promo items</a:t>
              </a:r>
            </a:p>
            <a:p>
              <a:pPr algn="just" marL="584156" indent="-292078" lvl="1">
                <a:lnSpc>
                  <a:spcPts val="4139"/>
                </a:lnSpc>
                <a:buFont typeface="Arial"/>
                <a:buChar char="•"/>
              </a:pPr>
              <a:r>
                <a:rPr lang="en-US" sz="2705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Average Price: Mean price across all products</a:t>
              </a:r>
            </a:p>
            <a:p>
              <a:pPr algn="just" marL="584156" indent="-292078" lvl="1">
                <a:lnSpc>
                  <a:spcPts val="4139"/>
                </a:lnSpc>
                <a:buFont typeface="Arial"/>
                <a:buChar char="•"/>
              </a:pPr>
              <a:r>
                <a:rPr lang="en-US" sz="2705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Seasonal Products: Number of items marked as seasonal</a:t>
              </a:r>
            </a:p>
            <a:p>
              <a:pPr algn="just" marL="0" indent="0" lvl="0">
                <a:lnSpc>
                  <a:spcPts val="4139"/>
                </a:lnSpc>
              </a:pPr>
              <a:r>
                <a:rPr lang="en-US" sz="2705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These KPIs summarize the overall product portfolio at a glance.</a:t>
              </a:r>
            </a:p>
            <a:p>
              <a:pPr algn="just" marL="0" indent="0" lvl="0">
                <a:lnSpc>
                  <a:spcPts val="3314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2D3E50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168953" y="3364635"/>
            <a:ext cx="7321717" cy="6023903"/>
            <a:chOff x="0" y="0"/>
            <a:chExt cx="1180187" cy="9709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0187" cy="970992"/>
            </a:xfrm>
            <a:custGeom>
              <a:avLst/>
              <a:gdLst/>
              <a:ahLst/>
              <a:cxnLst/>
              <a:rect r="r" b="b" t="t" l="l"/>
              <a:pathLst>
                <a:path h="970992" w="1180187">
                  <a:moveTo>
                    <a:pt x="0" y="0"/>
                  </a:moveTo>
                  <a:lnTo>
                    <a:pt x="1180187" y="0"/>
                  </a:lnTo>
                  <a:lnTo>
                    <a:pt x="1180187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2"/>
              <a:stretch>
                <a:fillRect l="0" t="-4992" r="0" b="-499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6003" y="2327044"/>
            <a:ext cx="9144000" cy="5632912"/>
            <a:chOff x="0" y="0"/>
            <a:chExt cx="1576227" cy="9709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6228" cy="970992"/>
            </a:xfrm>
            <a:custGeom>
              <a:avLst/>
              <a:gdLst/>
              <a:ahLst/>
              <a:cxnLst/>
              <a:rect r="r" b="b" t="t" l="l"/>
              <a:pathLst>
                <a:path h="970992" w="1576228">
                  <a:moveTo>
                    <a:pt x="0" y="0"/>
                  </a:moveTo>
                  <a:lnTo>
                    <a:pt x="1576228" y="0"/>
                  </a:lnTo>
                  <a:lnTo>
                    <a:pt x="157622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3"/>
              <a:stretch>
                <a:fillRect l="0" t="-18" r="0" b="-18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733425"/>
            <a:ext cx="97631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4A90E2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Dashboard Visuals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8635311"/>
            <a:chOff x="0" y="0"/>
            <a:chExt cx="11099800" cy="115137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2D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Key Insights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38278"/>
              <a:ext cx="11099800" cy="9475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This section highlights critical findings derived from the dashboard analysis, showcasing significant trends and patterns in Zara’s product offerings that inform strategic decisions.</a:t>
              </a:r>
            </a:p>
            <a:p>
              <a:pPr algn="just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Based on the dashboard analysis:</a:t>
              </a:r>
            </a:p>
            <a:p>
              <a:pPr algn="just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Clothing category contains the highest number of products</a:t>
              </a:r>
            </a:p>
            <a:p>
              <a:pPr algn="just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significant portion of items are seasonal, indicating trend-based inventory</a:t>
              </a:r>
            </a:p>
            <a:p>
              <a:pPr algn="just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large number of products are on promotion, suggesting aggressive marketing</a:t>
              </a:r>
            </a:p>
            <a:p>
              <a:pPr algn="just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Price range varies widely, from low-cost basics to premium apparel</a:t>
              </a:r>
            </a:p>
            <a:p>
              <a:pPr algn="just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 categories (like Jackets or Dresses) show higher average prices than others</a:t>
              </a:r>
            </a:p>
            <a:p>
              <a:pPr algn="just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 positions (Aisle vs End-cap) show different category distributions</a:t>
              </a:r>
            </a:p>
            <a:p>
              <a:pPr algn="just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2D3E5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These insights help plan pricing, inventory, and promotions.</a:t>
              </a:r>
            </a:p>
            <a:p>
              <a:pPr algn="just" marL="0" indent="0" lvl="0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51535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 strike="noStrike" u="none">
                <a:solidFill>
                  <a:srgbClr val="2D3E5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3316915"/>
            <a:ext cx="9474182" cy="365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2405" indent="-286202" lvl="1">
              <a:lnSpc>
                <a:spcPts val="2916"/>
              </a:lnSpc>
              <a:buFont typeface="Arial"/>
              <a:buChar char="•"/>
            </a:pPr>
            <a:r>
              <a:rPr lang="en-US" sz="2651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BI enabled the creation of a clear, interactive dashboard for Zara’s product data</a:t>
            </a:r>
          </a:p>
          <a:p>
            <a:pPr algn="just" marL="572405" indent="-286202" lvl="1">
              <a:lnSpc>
                <a:spcPts val="2916"/>
              </a:lnSpc>
              <a:spcBef>
                <a:spcPct val="0"/>
              </a:spcBef>
              <a:buFont typeface="Arial"/>
              <a:buChar char="•"/>
            </a:pPr>
            <a:r>
              <a:rPr lang="en-US" sz="2651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analysis highlights important patterns in pr</a:t>
            </a:r>
            <a:r>
              <a:rPr lang="en-US" sz="2651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oduct pricing, promotions, and seasonal trends</a:t>
            </a:r>
          </a:p>
          <a:p>
            <a:pPr algn="just" marL="572405" indent="-286202" lvl="1">
              <a:lnSpc>
                <a:spcPts val="2916"/>
              </a:lnSpc>
              <a:spcBef>
                <a:spcPct val="0"/>
              </a:spcBef>
              <a:buFont typeface="Arial"/>
              <a:buChar char="•"/>
            </a:pPr>
            <a:r>
              <a:rPr lang="en-US" sz="2651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 and position insights support inventory optimization</a:t>
            </a:r>
          </a:p>
          <a:p>
            <a:pPr algn="just" marL="572405" indent="-286202" lvl="1">
              <a:lnSpc>
                <a:spcPts val="2916"/>
              </a:lnSpc>
              <a:spcBef>
                <a:spcPct val="0"/>
              </a:spcBef>
              <a:buFont typeface="Arial"/>
              <a:buChar char="•"/>
            </a:pPr>
            <a:r>
              <a:rPr lang="en-US" sz="2651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Retail teams can use this dashboard to make informed business decisions</a:t>
            </a:r>
          </a:p>
          <a:p>
            <a:pPr algn="just" marL="572405" indent="-286202" lvl="1">
              <a:lnSpc>
                <a:spcPts val="2916"/>
              </a:lnSpc>
              <a:spcBef>
                <a:spcPct val="0"/>
              </a:spcBef>
              <a:buFont typeface="Arial"/>
              <a:buChar char="•"/>
            </a:pPr>
            <a:r>
              <a:rPr lang="en-US" sz="2651">
                <a:solidFill>
                  <a:srgbClr val="2D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demonstrates effective data visualization and dashboard development skills</a:t>
            </a:r>
          </a:p>
          <a:p>
            <a:pPr algn="just">
              <a:lnSpc>
                <a:spcPts val="29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Product Insights</dc:description>
  <dc:identifier>DAG5JmAJ9QI</dc:identifier>
  <dcterms:modified xsi:type="dcterms:W3CDTF">2011-08-01T06:04:30Z</dcterms:modified>
  <cp:revision>1</cp:revision>
  <dc:title>Presentation - Product Insights</dc:title>
</cp:coreProperties>
</file>